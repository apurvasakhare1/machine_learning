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4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130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2011680" cy="2011680"/>
          </a:xfrm>
          <a:prstGeom prst="ellipse">
            <a:avLst/>
          </a:prstGeom>
          <a:solidFill>
            <a:srgbClr val="0A7C6E">
              <a:alpha val="25000"/>
            </a:srgbClr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474720"/>
            <a:ext cx="2560320" cy="2560320"/>
          </a:xfrm>
          <a:prstGeom prst="ellipse">
            <a:avLst/>
          </a:prstGeom>
          <a:solidFill>
            <a:srgbClr val="14A68B">
              <a:alpha val="20000"/>
            </a:srgbClr>
          </a:solidFill>
          <a:ln w="12700">
            <a:solidFill>
              <a:srgbClr val="14A6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1280160" cy="128016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02920"/>
            <a:ext cx="2377440" cy="347472"/>
          </a:xfrm>
          <a:prstGeom prst="roundRect">
            <a:avLst>
              <a:gd name="adj" fmla="val 39474"/>
            </a:avLst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MINI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Molecule Classification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Molecular Property Prediction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4114800" cy="0"/>
          </a:xfrm>
          <a:prstGeom prst="line">
            <a:avLst/>
          </a:prstGeom>
          <a:noFill/>
          <a:ln w="25400">
            <a:solidFill>
              <a:srgbClr val="0A7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34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XLogP values &amp; classifying drug molecules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molecular weight using Machine Learning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PubChem Compound Drugs   |   3,212 Molecules   |   38 Features</a:t>
            </a:r>
            <a:endParaRPr lang="en-US" sz="11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03013BE0-73FD-4EE5-B0B2-091F87299F90}"/>
              </a:ext>
            </a:extLst>
          </p:cNvPr>
          <p:cNvSpPr/>
          <p:nvPr/>
        </p:nvSpPr>
        <p:spPr>
          <a:xfrm>
            <a:off x="548640" y="3479385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Apurva </a:t>
            </a:r>
            <a:r>
              <a:rPr lang="en-US" sz="1400" dirty="0" err="1">
                <a:solidFill>
                  <a:schemeClr val="bg1"/>
                </a:solidFill>
              </a:rPr>
              <a:t>Nahrao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Sakhare</a:t>
            </a:r>
            <a:r>
              <a:rPr lang="en-US" sz="1400" dirty="0">
                <a:solidFill>
                  <a:schemeClr val="bg1"/>
                </a:solidFill>
              </a:rPr>
              <a:t> - 25070244003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200400"/>
            <a:ext cx="2926080" cy="2926080"/>
          </a:xfrm>
          <a:prstGeom prst="ellipse">
            <a:avLst/>
          </a:prstGeom>
          <a:solidFill>
            <a:srgbClr val="0A7C6E">
              <a:alpha val="15000"/>
            </a:srgbClr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A7C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676656"/>
          </a:xfrm>
          <a:prstGeom prst="rect">
            <a:avLst/>
          </a:prstGeom>
          <a:solidFill>
            <a:srgbClr val="0A7C6E">
              <a:alpha val="12000"/>
            </a:srgbClr>
          </a:solidFill>
          <a:ln w="12700">
            <a:solidFill>
              <a:srgbClr val="0A7C6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502920" cy="676656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051560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335024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solve and achieve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01368"/>
            <a:ext cx="4023360" cy="676656"/>
          </a:xfrm>
          <a:prstGeom prst="rect">
            <a:avLst/>
          </a:prstGeom>
          <a:solidFill>
            <a:srgbClr val="0A7C6E">
              <a:alpha val="12000"/>
            </a:srgbClr>
          </a:solidFill>
          <a:ln w="12700">
            <a:solidFill>
              <a:srgbClr val="0A7C6E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01368"/>
            <a:ext cx="502920" cy="676656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01368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1847088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2130552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 Drugs Dataset — 3,212 molecules, 38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96896"/>
            <a:ext cx="4023360" cy="676656"/>
          </a:xfrm>
          <a:prstGeom prst="rect">
            <a:avLst/>
          </a:prstGeom>
          <a:solidFill>
            <a:srgbClr val="0A7C6E">
              <a:alpha val="12000"/>
            </a:srgbClr>
          </a:solidFill>
          <a:ln w="12700">
            <a:solidFill>
              <a:srgbClr val="0A7C6E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96896"/>
            <a:ext cx="502920" cy="676656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96896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2642616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2926080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scaling, and SMILES conversion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92424"/>
            <a:ext cx="4023360" cy="676656"/>
          </a:xfrm>
          <a:prstGeom prst="rect">
            <a:avLst/>
          </a:prstGeom>
          <a:solidFill>
            <a:srgbClr val="0A7C6E">
              <a:alpha val="12000"/>
            </a:srgbClr>
          </a:solidFill>
          <a:ln w="12700">
            <a:solidFill>
              <a:srgbClr val="0A7C6E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92424"/>
            <a:ext cx="502920" cy="676656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92424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343814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372160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workflow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87952"/>
            <a:ext cx="4023360" cy="676656"/>
          </a:xfrm>
          <a:prstGeom prst="rect">
            <a:avLst/>
          </a:prstGeom>
          <a:solidFill>
            <a:srgbClr val="0A7C6E">
              <a:alpha val="12000"/>
            </a:srgbClr>
          </a:solidFill>
          <a:ln w="12700">
            <a:solidFill>
              <a:srgbClr val="0A7C6E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87952"/>
            <a:ext cx="502920" cy="676656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87952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4233672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&amp; Algorithms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4128" y="451713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Linear Regression, RDKit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005840"/>
            <a:ext cx="4023360" cy="676656"/>
          </a:xfrm>
          <a:prstGeom prst="rect">
            <a:avLst/>
          </a:prstGeom>
          <a:solidFill>
            <a:srgbClr val="0A7C6E">
              <a:alpha val="12000"/>
            </a:srgbClr>
          </a:solidFill>
          <a:ln w="12700">
            <a:solidFill>
              <a:srgbClr val="0A7C6E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005840"/>
            <a:ext cx="502920" cy="676656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005840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1808" y="1051560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Evaluation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21808" y="1335024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split, metrics, performance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1801368"/>
            <a:ext cx="4023360" cy="676656"/>
          </a:xfrm>
          <a:prstGeom prst="rect">
            <a:avLst/>
          </a:prstGeom>
          <a:solidFill>
            <a:srgbClr val="0A7C6E">
              <a:alpha val="12000"/>
            </a:srgbClr>
          </a:solidFill>
          <a:ln w="12700">
            <a:solidFill>
              <a:srgbClr val="0A7C6E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1801368"/>
            <a:ext cx="502920" cy="676656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801368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21808" y="1847088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21808" y="2130552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and classification outcomes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2596896"/>
            <a:ext cx="4023360" cy="676656"/>
          </a:xfrm>
          <a:prstGeom prst="rect">
            <a:avLst/>
          </a:prstGeom>
          <a:solidFill>
            <a:srgbClr val="0A7C6E">
              <a:alpha val="12000"/>
            </a:srgbClr>
          </a:solidFill>
          <a:ln w="12700">
            <a:solidFill>
              <a:srgbClr val="0A7C6E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2596896"/>
            <a:ext cx="502920" cy="676656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596896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21808" y="2642616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21808" y="2926080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and improvements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392424"/>
            <a:ext cx="4023360" cy="676656"/>
          </a:xfrm>
          <a:prstGeom prst="rect">
            <a:avLst/>
          </a:prstGeom>
          <a:solidFill>
            <a:srgbClr val="0A7C6E">
              <a:alpha val="12000"/>
            </a:srgbClr>
          </a:solidFill>
          <a:ln w="12700">
            <a:solidFill>
              <a:srgbClr val="0A7C6E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3392424"/>
            <a:ext cx="502920" cy="676656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392424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21808" y="343814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21808" y="372160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the project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ML techniques to predict molecular properties of drug molecules:
</a:t>
            </a:r>
            <a:r>
              <a:rPr lang="en-US" sz="1300" b="1" dirty="0">
                <a:solidFill>
                  <a:srgbClr val="0A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XLogP Values
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drug solubility — a key factor in pharmaceutical development.
</a:t>
            </a:r>
            <a:r>
              <a:rPr lang="en-US" sz="1300" b="1" dirty="0">
                <a:solidFill>
                  <a:srgbClr val="0A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Weight Classification
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molecules into Light, Medium, or Heavy weight categories based on molecular structure.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14400"/>
            <a:ext cx="4206240" cy="411480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914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481328"/>
            <a:ext cx="274320" cy="274320"/>
          </a:xfrm>
          <a:prstGeom prst="ellipse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146304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dataset structure and features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0" y="2103120"/>
            <a:ext cx="274320" cy="274320"/>
          </a:xfrm>
          <a:prstGeom prst="ellipse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208483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data by removing missing values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2724912"/>
            <a:ext cx="274320" cy="274320"/>
          </a:xfrm>
          <a:prstGeom prst="ellipse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270662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Regression model to predict XLogP values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3346704"/>
            <a:ext cx="274320" cy="274320"/>
          </a:xfrm>
          <a:prstGeom prst="ellipse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332841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Classification model for drug molecules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3968496"/>
            <a:ext cx="274320" cy="274320"/>
          </a:xfrm>
          <a:prstGeom prst="ellipse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395020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performances using standard metrics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A7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595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PubChem Compound Drugs Dataset  |  File: drugs_dataset.csv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" y="1143000"/>
            <a:ext cx="1920240" cy="1188720"/>
          </a:xfrm>
          <a:prstGeom prst="rect">
            <a:avLst/>
          </a:prstGeom>
          <a:solidFill>
            <a:srgbClr val="0A7C6E">
              <a:alpha val="80000"/>
            </a:srgbClr>
          </a:solidFill>
          <a:ln w="12700">
            <a:solidFill>
              <a:srgbClr val="14A6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56669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3,212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6898" y="1124712"/>
            <a:ext cx="1920240" cy="1188720"/>
          </a:xfrm>
          <a:prstGeom prst="rect">
            <a:avLst/>
          </a:prstGeom>
          <a:solidFill>
            <a:srgbClr val="0A7C6E">
              <a:alpha val="80000"/>
            </a:srgbClr>
          </a:solidFill>
          <a:ln w="12700">
            <a:solidFill>
              <a:srgbClr val="14A6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1247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06040" y="1627632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18019"/>
            <a:ext cx="1920240" cy="1188720"/>
          </a:xfrm>
          <a:prstGeom prst="rect">
            <a:avLst/>
          </a:prstGeom>
          <a:solidFill>
            <a:srgbClr val="0A7C6E">
              <a:alpha val="80000"/>
            </a:srgbClr>
          </a:solidFill>
          <a:ln w="12700">
            <a:solidFill>
              <a:srgbClr val="14A6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43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54880" y="1627632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133856"/>
            <a:ext cx="1920240" cy="1188720"/>
          </a:xfrm>
          <a:prstGeom prst="rect">
            <a:avLst/>
          </a:prstGeom>
          <a:solidFill>
            <a:srgbClr val="0A7C6E">
              <a:alpha val="80000"/>
            </a:srgbClr>
          </a:solidFill>
          <a:ln w="12700">
            <a:solidFill>
              <a:srgbClr val="14A6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03720" y="112094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03720" y="1634891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395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Used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" y="2871216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8163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XLogP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" y="30540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Lipophilicity / solubility predictor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" y="3319272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264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Weight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35021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weight of the molecule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" y="376732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7124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" y="39502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molecular mass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" y="4215384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160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Surface Area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" y="43982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absorption indicator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" y="466344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6085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Atom Count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" y="48463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Non-hydrogen atom count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64024" y="2871216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28163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H-Bond Donor Count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10912" y="30540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bonding sites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64024" y="3319272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3264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H-Bond Acceptor Count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10912" y="35021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Acceptor bonding sites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64024" y="376732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37124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10912" y="39502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complexity score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64024" y="4215384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4160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Rotatable Bond Count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10912" y="43982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flexibility measure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33272"/>
            <a:ext cx="237744" cy="237744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33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" y="10149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Irrelevant Columns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41732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columns like compound names were dropped as they cannot be directly processed by ML models.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60120"/>
            <a:ext cx="2743200" cy="384048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033272"/>
            <a:ext cx="237744" cy="237744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033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94176" y="10149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1568" y="141732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null or NaN values were identified and removed to ensure clean, complete data for model training.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960120"/>
            <a:ext cx="2743200" cy="384048"/>
          </a:xfrm>
          <a:prstGeom prst="rect">
            <a:avLst/>
          </a:prstGeom>
          <a:solidFill>
            <a:srgbClr val="0876A0"/>
          </a:solidFill>
          <a:ln w="12700">
            <a:solidFill>
              <a:srgbClr val="087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033272"/>
            <a:ext cx="237744" cy="237744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033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0256" y="10149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→ Fingerprints (RDKit)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27648" y="141732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representations were converted into molecular fingerprints using the RDKit library, producing numeric bit-vectors.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80360"/>
            <a:ext cx="2743200" cy="384048"/>
          </a:xfrm>
          <a:prstGeom prst="rect">
            <a:avLst/>
          </a:prstGeom>
          <a:solidFill>
            <a:srgbClr val="6B48A0"/>
          </a:solidFill>
          <a:ln w="12700">
            <a:solidFill>
              <a:srgbClr val="6B48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53512"/>
            <a:ext cx="237744" cy="237744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953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8096" y="29352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(StandardScaler)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" y="333756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numerical features were standardized using StandardScaler (mean=0, std=1) to prevent dominant features from skewing model results.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2880360"/>
            <a:ext cx="2743200" cy="384048"/>
          </a:xfrm>
          <a:prstGeom prst="rect">
            <a:avLst/>
          </a:prstGeom>
          <a:solidFill>
            <a:srgbClr val="A05B34"/>
          </a:solidFill>
          <a:ln w="12700">
            <a:solidFill>
              <a:srgbClr val="A05B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0" y="2953512"/>
            <a:ext cx="237744" cy="237744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2953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94176" y="29352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01568" y="333756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dataset was split into training (80%) and testing (20%) sets to enable unbiased model evaluation.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2880360"/>
            <a:ext cx="274320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2953512"/>
            <a:ext cx="237744" cy="237744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2953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20256" y="29352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Target Variables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27648" y="3337560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XLogP selected as regression target. Drug_Class (Light / Medium / Heavy) created based on molecular weight thresholds for classification.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End-to-End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5603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4A68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106424"/>
            <a:ext cx="292608" cy="292608"/>
          </a:xfrm>
          <a:prstGeom prst="ellipse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06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101498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29844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drugs_dataset.csv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63240" y="1271016"/>
            <a:ext cx="274320" cy="0"/>
          </a:xfrm>
          <a:prstGeom prst="line">
            <a:avLst/>
          </a:prstGeom>
          <a:noFill/>
          <a:ln w="19050">
            <a:solidFill>
              <a:srgbClr val="0A7C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960120"/>
            <a:ext cx="25603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4A68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93008" y="1106424"/>
            <a:ext cx="292608" cy="292608"/>
          </a:xfrm>
          <a:prstGeom prst="ellipse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106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58768" y="101498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58768" y="129844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columns, handle nulls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1271016"/>
            <a:ext cx="274320" cy="0"/>
          </a:xfrm>
          <a:prstGeom prst="line">
            <a:avLst/>
          </a:prstGeom>
          <a:noFill/>
          <a:ln w="19050">
            <a:solidFill>
              <a:srgbClr val="0A7C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960120"/>
            <a:ext cx="25603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4A68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1106424"/>
            <a:ext cx="292608" cy="292608"/>
          </a:xfrm>
          <a:prstGeom prst="ellipse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1106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84848" y="101498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→ Fingerprints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84848" y="129844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conversion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1783080"/>
            <a:ext cx="25603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4A68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1929384"/>
            <a:ext cx="292608" cy="292608"/>
          </a:xfrm>
          <a:prstGeom prst="ellipse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" y="183794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" y="212140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Descriptors + Fingerprints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63240" y="2093976"/>
            <a:ext cx="274320" cy="0"/>
          </a:xfrm>
          <a:prstGeom prst="line">
            <a:avLst/>
          </a:prstGeom>
          <a:noFill/>
          <a:ln w="19050">
            <a:solidFill>
              <a:srgbClr val="0A7C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0" y="1783080"/>
            <a:ext cx="25603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4A68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93008" y="1929384"/>
            <a:ext cx="292608" cy="292608"/>
          </a:xfrm>
          <a:prstGeom prst="ellipse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58768" y="183794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Target Variables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58768" y="212140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XLogP &amp; Drug_Class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89320" y="2093976"/>
            <a:ext cx="274320" cy="0"/>
          </a:xfrm>
          <a:prstGeom prst="line">
            <a:avLst/>
          </a:prstGeom>
          <a:noFill/>
          <a:ln w="19050">
            <a:solidFill>
              <a:srgbClr val="0A7C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1783080"/>
            <a:ext cx="25603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4A68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19088" y="1929384"/>
            <a:ext cx="292608" cy="292608"/>
          </a:xfrm>
          <a:prstGeom prst="ellipse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84848" y="183794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84848" y="212140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2606040"/>
            <a:ext cx="25603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4A68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66928" y="2752344"/>
            <a:ext cx="292608" cy="292608"/>
          </a:xfrm>
          <a:prstGeom prst="ellipse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2752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32688" y="266090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32688" y="294436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063240" y="2916936"/>
            <a:ext cx="274320" cy="0"/>
          </a:xfrm>
          <a:prstGeom prst="line">
            <a:avLst/>
          </a:prstGeom>
          <a:noFill/>
          <a:ln w="19050">
            <a:solidFill>
              <a:srgbClr val="0A7C6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83280" y="2606040"/>
            <a:ext cx="25603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4A68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493008" y="2752344"/>
            <a:ext cx="292608" cy="292608"/>
          </a:xfrm>
          <a:prstGeom prst="ellipse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93008" y="2752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858768" y="266090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858768" y="294436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Linear Regression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89320" y="2916936"/>
            <a:ext cx="274320" cy="0"/>
          </a:xfrm>
          <a:prstGeom prst="line">
            <a:avLst/>
          </a:prstGeom>
          <a:noFill/>
          <a:ln w="19050">
            <a:solidFill>
              <a:srgbClr val="0A7C6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09360" y="2606040"/>
            <a:ext cx="2560320" cy="658368"/>
          </a:xfrm>
          <a:prstGeom prst="rect">
            <a:avLst/>
          </a:prstGeom>
          <a:solidFill>
            <a:srgbClr val="0A7C6E"/>
          </a:solidFill>
          <a:ln w="19050">
            <a:solidFill>
              <a:srgbClr val="0A7C6E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19088" y="275234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9088" y="2752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7C6E"/>
                </a:solidFill>
              </a:rPr>
              <a:t>9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784848" y="266090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784848" y="294436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MSE, R², Accuracy, F1 Score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&amp; Algorithms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A7C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2606040" cy="1828800"/>
          </a:xfrm>
          <a:prstGeom prst="rect">
            <a:avLst/>
          </a:prstGeom>
          <a:solidFill>
            <a:srgbClr val="0A7C6E">
              <a:alpha val="85000"/>
            </a:srgbClr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2606040" cy="365760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87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42646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XLogP values accurately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184708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feature interdependencies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226771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relationships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2606040" cy="1828800"/>
          </a:xfrm>
          <a:prstGeom prst="rect">
            <a:avLst/>
          </a:prstGeom>
          <a:solidFill>
            <a:srgbClr val="0A9E84">
              <a:alpha val="85000"/>
            </a:srgbClr>
          </a:solidFill>
          <a:ln w="12700">
            <a:solidFill>
              <a:srgbClr val="0A9E8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987552"/>
            <a:ext cx="2606040" cy="365760"/>
          </a:xfrm>
          <a:prstGeom prst="rect">
            <a:avLst/>
          </a:prstGeom>
          <a:solidFill>
            <a:srgbClr val="0A9E84"/>
          </a:solidFill>
          <a:ln w="12700">
            <a:solidFill>
              <a:srgbClr val="0A9E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987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42646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into Light/Medium/Heavy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10128" y="184708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&amp; stable performance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10128" y="226771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987552"/>
            <a:ext cx="2606040" cy="1828800"/>
          </a:xfrm>
          <a:prstGeom prst="rect">
            <a:avLst/>
          </a:prstGeom>
          <a:solidFill>
            <a:srgbClr val="0876A0">
              <a:alpha val="85000"/>
            </a:srgbClr>
          </a:solidFill>
          <a:ln w="12700">
            <a:solidFill>
              <a:srgbClr val="087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987552"/>
            <a:ext cx="2606040" cy="365760"/>
          </a:xfrm>
          <a:prstGeom prst="rect">
            <a:avLst/>
          </a:prstGeom>
          <a:solidFill>
            <a:srgbClr val="0876A0"/>
          </a:solidFill>
          <a:ln w="12700">
            <a:solidFill>
              <a:srgbClr val="087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9875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44768" y="142646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unnecessary columns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44768" y="184708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missing/null values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44768" y="226771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normalization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2980944"/>
            <a:ext cx="2606040" cy="1828800"/>
          </a:xfrm>
          <a:prstGeom prst="rect">
            <a:avLst/>
          </a:prstGeom>
          <a:solidFill>
            <a:srgbClr val="6B48A0">
              <a:alpha val="85000"/>
            </a:srgbClr>
          </a:solidFill>
          <a:ln w="12700">
            <a:solidFill>
              <a:srgbClr val="6B48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980944"/>
            <a:ext cx="2606040" cy="365760"/>
          </a:xfrm>
          <a:prstGeom prst="rect">
            <a:avLst/>
          </a:prstGeom>
          <a:solidFill>
            <a:srgbClr val="6B48A0"/>
          </a:solidFill>
          <a:ln w="12700">
            <a:solidFill>
              <a:srgbClr val="6B4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9809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Library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341985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SMILES strings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" y="38404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molecular fingerprints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" y="426110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ML-compatible features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0" y="2980944"/>
            <a:ext cx="2606040" cy="1828800"/>
          </a:xfrm>
          <a:prstGeom prst="rect">
            <a:avLst/>
          </a:prstGeom>
          <a:solidFill>
            <a:srgbClr val="A05B34">
              <a:alpha val="85000"/>
            </a:srgbClr>
          </a:solidFill>
          <a:ln w="12700">
            <a:solidFill>
              <a:srgbClr val="A05B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980944"/>
            <a:ext cx="2606040" cy="365760"/>
          </a:xfrm>
          <a:prstGeom prst="rect">
            <a:avLst/>
          </a:prstGeom>
          <a:solidFill>
            <a:srgbClr val="A05B34"/>
          </a:solidFill>
          <a:ln w="12700">
            <a:solidFill>
              <a:srgbClr val="A05B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29809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10128" y="341985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feature coefficient values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310128" y="38404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model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310128" y="426110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linear feature relationships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Evaluation Metrics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Train-Test Split:  80% Training  |  20% Testing  |  Random State: 42 (reproducible)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160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72768"/>
            <a:ext cx="41605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REGRESSION  —  Random Forest vs Linear Regression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1920240" cy="329184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2011680"/>
            <a:ext cx="1005840" cy="329184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011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MSE 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2011680"/>
            <a:ext cx="914400" cy="329184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0116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R² 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95728"/>
            <a:ext cx="1920240" cy="420624"/>
          </a:xfrm>
          <a:prstGeom prst="rect">
            <a:avLst/>
          </a:prstGeom>
          <a:solidFill>
            <a:srgbClr val="E8F5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957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14600" y="2395728"/>
            <a:ext cx="1005840" cy="420624"/>
          </a:xfrm>
          <a:prstGeom prst="rect">
            <a:avLst/>
          </a:prstGeom>
          <a:solidFill>
            <a:srgbClr val="E8F5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39572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11880" y="2395728"/>
            <a:ext cx="914400" cy="420624"/>
          </a:xfrm>
          <a:prstGeom prst="rect">
            <a:avLst/>
          </a:prstGeom>
          <a:solidFill>
            <a:srgbClr val="E8F5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239572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0.837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2852928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8529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14600" y="2852928"/>
            <a:ext cx="1005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285292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11880" y="2852928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285292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340156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Avg squared diff between predicted &amp; actual XLogP. Lower = better.
</a:t>
            </a:r>
            <a:r>
              <a:rPr lang="en-US" sz="1150" b="1" dirty="0">
                <a:solidFill>
                  <a:srgbClr val="0A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Variance in XLogP explained by the model. Closer to 1.0 = better fit.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1516419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416516"/>
            <a:ext cx="4023360" cy="384048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380744"/>
            <a:ext cx="4023360" cy="429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CLASSIFICATION  —  Random Forest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20299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A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99.84%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4846320" y="2606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960988" y="1849991"/>
            <a:ext cx="160020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912675" y="1882056"/>
            <a:ext cx="1600200" cy="31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LIGHT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60988" y="2269979"/>
            <a:ext cx="1600200" cy="384048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0988" y="2231836"/>
            <a:ext cx="1600200" cy="40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MEDIUM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60988" y="2692458"/>
            <a:ext cx="160020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2679805"/>
            <a:ext cx="1600200" cy="373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HEAVY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3108960"/>
            <a:ext cx="19202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12280" y="3109120"/>
            <a:ext cx="17373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46320" y="3139479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81228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846320" y="3511296"/>
            <a:ext cx="1920240" cy="365760"/>
          </a:xfrm>
          <a:prstGeom prst="rect">
            <a:avLst/>
          </a:prstGeom>
          <a:solidFill>
            <a:srgbClr val="E8F5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23828" y="3511296"/>
            <a:ext cx="1737360" cy="365760"/>
          </a:xfrm>
          <a:prstGeom prst="rect">
            <a:avLst/>
          </a:prstGeom>
          <a:solidFill>
            <a:srgbClr val="E8F5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5112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823828" y="35753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A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~99.8%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846320" y="3913632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23828" y="3901223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846320" y="3913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812280" y="39136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A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~99.8%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846320" y="4315968"/>
            <a:ext cx="1920240" cy="365760"/>
          </a:xfrm>
          <a:prstGeom prst="rect">
            <a:avLst/>
          </a:prstGeom>
          <a:solidFill>
            <a:srgbClr val="E8F5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23828" y="4315968"/>
            <a:ext cx="1737360" cy="365760"/>
          </a:xfrm>
          <a:prstGeom prst="rect">
            <a:avLst/>
          </a:prstGeom>
          <a:solidFill>
            <a:srgbClr val="E8F5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846320" y="4315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812280" y="4315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A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~99.8%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1371600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(Random Forest)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than LR's 0.976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743200" cy="1371600"/>
          </a:xfrm>
          <a:prstGeom prst="rect">
            <a:avLst/>
          </a:prstGeom>
          <a:solidFill>
            <a:srgbClr val="0876A0"/>
          </a:solidFill>
          <a:ln w="12700">
            <a:solidFill>
              <a:srgbClr val="087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9601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91840" y="16276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(RF)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91840" y="2286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LR's 0.790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914400"/>
            <a:ext cx="2743200" cy="1371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9601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99.84%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217920" y="16276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17920" y="2286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classes: Light/Medium/Heavy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8412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06040"/>
            <a:ext cx="84124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060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DISCUSSION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RF vs Linear Regression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3044952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lower MSE (0.743 vs 0.976) and higher R² (0.837 vs 0.790), demonstrating its superior ability to model complex non-linear feature relationships.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639312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85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Classification Performance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66674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classification model achieved near-perfect 99.84% accuracy in categorizing molecules, aided by well-engineered molecular fingerprint features from RDKit.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261104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06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Feature Importance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0" y="4288536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weight and heavy atom count emerged as the most discriminative features for classification. XLogP was most predictable using polar surface area and H-bond counts.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Enhancements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9050">
            <a:solidFill>
              <a:srgbClr val="0A7C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43200" cy="1691640"/>
          </a:xfrm>
          <a:prstGeom prst="rect">
            <a:avLst/>
          </a:prstGeom>
          <a:solidFill>
            <a:srgbClr val="0A7C6E">
              <a:alpha val="12000"/>
            </a:srgbClr>
          </a:solidFill>
          <a:ln w="12700">
            <a:solidFill>
              <a:srgbClr val="0A7C6E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75488" cy="1691640"/>
          </a:xfrm>
          <a:prstGeom prst="rect">
            <a:avLst/>
          </a:prstGeom>
          <a:solidFill>
            <a:srgbClr val="0A7C6E">
              <a:alpha val="80000"/>
            </a:srgbClr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475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161288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32688" y="1508760"/>
            <a:ext cx="2029968" cy="0"/>
          </a:xfrm>
          <a:prstGeom prst="line">
            <a:avLst/>
          </a:prstGeom>
          <a:noFill/>
          <a:ln w="9525">
            <a:solidFill>
              <a:srgbClr val="0A7C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563624"/>
            <a:ext cx="20848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Graph Neural Networks (GNNs) to model molecular graph structures directly for more accurate property prediction.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743200" cy="1691640"/>
          </a:xfrm>
          <a:prstGeom prst="rect">
            <a:avLst/>
          </a:prstGeom>
          <a:solidFill>
            <a:srgbClr val="0876A0">
              <a:alpha val="12000"/>
            </a:srgbClr>
          </a:solidFill>
          <a:ln w="12700">
            <a:solidFill>
              <a:srgbClr val="0876A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051560"/>
            <a:ext cx="475488" cy="1691640"/>
          </a:xfrm>
          <a:prstGeom prst="rect">
            <a:avLst/>
          </a:prstGeom>
          <a:solidFill>
            <a:srgbClr val="0876A0">
              <a:alpha val="80000"/>
            </a:srgbClr>
          </a:solidFill>
          <a:ln w="12700">
            <a:solidFill>
              <a:srgbClr val="087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51560"/>
            <a:ext cx="475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58768" y="1161288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Drug Properties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58768" y="1508760"/>
            <a:ext cx="2029968" cy="0"/>
          </a:xfrm>
          <a:prstGeom prst="line">
            <a:avLst/>
          </a:prstGeom>
          <a:noFill/>
          <a:ln w="9525">
            <a:solidFill>
              <a:srgbClr val="087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58768" y="1563624"/>
            <a:ext cx="20848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additional ADMET properties — Absorption, Distribution, Metabolism, Excretion, and Toxicity — for comprehensive drug profiling.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51560"/>
            <a:ext cx="2743200" cy="1691640"/>
          </a:xfrm>
          <a:prstGeom prst="rect">
            <a:avLst/>
          </a:prstGeom>
          <a:solidFill>
            <a:srgbClr val="6B48A0">
              <a:alpha val="12000"/>
            </a:srgbClr>
          </a:solidFill>
          <a:ln w="12700">
            <a:solidFill>
              <a:srgbClr val="6B48A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051560"/>
            <a:ext cx="475488" cy="1691640"/>
          </a:xfrm>
          <a:prstGeom prst="rect">
            <a:avLst/>
          </a:prstGeom>
          <a:solidFill>
            <a:srgbClr val="6B48A0">
              <a:alpha val="80000"/>
            </a:srgbClr>
          </a:solidFill>
          <a:ln w="12700">
            <a:solidFill>
              <a:srgbClr val="6B4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51560"/>
            <a:ext cx="475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84848" y="1161288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&amp; Diverse Datasets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84848" y="1508760"/>
            <a:ext cx="2029968" cy="0"/>
          </a:xfrm>
          <a:prstGeom prst="line">
            <a:avLst/>
          </a:prstGeom>
          <a:noFill/>
          <a:ln w="9525">
            <a:solidFill>
              <a:srgbClr val="6B4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1563624"/>
            <a:ext cx="20848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datasets from ChEMBL, ZINC, and DrugBank to improve generalization across a wider chemical space.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926080"/>
            <a:ext cx="2743200" cy="1691640"/>
          </a:xfrm>
          <a:prstGeom prst="rect">
            <a:avLst/>
          </a:prstGeom>
          <a:solidFill>
            <a:srgbClr val="A05B34">
              <a:alpha val="12000"/>
            </a:srgbClr>
          </a:solidFill>
          <a:ln w="12700">
            <a:solidFill>
              <a:srgbClr val="A05B34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926080"/>
            <a:ext cx="475488" cy="1691640"/>
          </a:xfrm>
          <a:prstGeom prst="rect">
            <a:avLst/>
          </a:prstGeom>
          <a:solidFill>
            <a:srgbClr val="A05B34">
              <a:alpha val="80000"/>
            </a:srgbClr>
          </a:solidFill>
          <a:ln w="12700">
            <a:solidFill>
              <a:srgbClr val="A05B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26080"/>
            <a:ext cx="475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3035808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Application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32688" y="3383280"/>
            <a:ext cx="2029968" cy="0"/>
          </a:xfrm>
          <a:prstGeom prst="line">
            <a:avLst/>
          </a:prstGeom>
          <a:noFill/>
          <a:ln w="9525">
            <a:solidFill>
              <a:srgbClr val="A05B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3438144"/>
            <a:ext cx="20848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models via a Flask or Streamlit web app, allowing researchers to input a SMILES string and get instant predictions.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2926080"/>
            <a:ext cx="2743200" cy="1691640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2926080"/>
            <a:ext cx="475488" cy="1691640"/>
          </a:xfrm>
          <a:prstGeom prst="rect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926080"/>
            <a:ext cx="475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58768" y="3035808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58768" y="3383280"/>
            <a:ext cx="2029968" cy="0"/>
          </a:xfrm>
          <a:prstGeom prst="line">
            <a:avLst/>
          </a:prstGeom>
          <a:noFill/>
          <a:ln w="9525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3438144"/>
            <a:ext cx="20848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GridSearchCV or Bayesian Optimization to fine-tune model parameters and maximize predictive performance.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2926080"/>
            <a:ext cx="2743200" cy="1691640"/>
          </a:xfrm>
          <a:prstGeom prst="rect">
            <a:avLst/>
          </a:prstGeom>
          <a:solidFill>
            <a:srgbClr val="8E44AD">
              <a:alpha val="12000"/>
            </a:srgbClr>
          </a:solidFill>
          <a:ln w="12700">
            <a:solidFill>
              <a:srgbClr val="8E44AD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2926080"/>
            <a:ext cx="475488" cy="1691640"/>
          </a:xfrm>
          <a:prstGeom prst="rect">
            <a:avLst/>
          </a:prstGeom>
          <a:solidFill>
            <a:srgbClr val="8E44AD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926080"/>
            <a:ext cx="475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84848" y="3035808"/>
            <a:ext cx="2084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(XAI)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84848" y="3383280"/>
            <a:ext cx="2029968" cy="0"/>
          </a:xfrm>
          <a:prstGeom prst="line">
            <a:avLst/>
          </a:prstGeom>
          <a:noFill/>
          <a:ln w="9525">
            <a:solidFill>
              <a:srgbClr val="8E44A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84848" y="3438144"/>
            <a:ext cx="20848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SHAP values and LIME to provide interpretable explanations of model predictions, critical for pharmaceutical trust and validation.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A7C6E">
              <a:alpha val="20000"/>
            </a:srgbClr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14A68B">
              <a:alpha val="20000"/>
            </a:srgbClr>
          </a:solidFill>
          <a:ln w="12700">
            <a:solidFill>
              <a:srgbClr val="14A6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20040"/>
            <a:ext cx="2194560" cy="347472"/>
          </a:xfrm>
          <a:prstGeom prst="roundRect">
            <a:avLst>
              <a:gd name="adj" fmla="val 39474"/>
            </a:avLst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0467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023360" cy="1417320"/>
          </a:xfrm>
          <a:prstGeom prst="rect">
            <a:avLst/>
          </a:prstGeom>
          <a:solidFill>
            <a:srgbClr val="0A7C6E">
              <a:alpha val="78000"/>
            </a:srgbClr>
          </a:solidFill>
          <a:ln w="12700">
            <a:solidFill>
              <a:srgbClr val="14A6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High 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85623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 achieved 99.84% accuracy in categorizing drug molecules into Light, Medium, and Heavy classes.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417320"/>
            <a:ext cx="4023360" cy="1417320"/>
          </a:xfrm>
          <a:prstGeom prst="rect">
            <a:avLst/>
          </a:prstGeom>
          <a:solidFill>
            <a:srgbClr val="0A7C6E">
              <a:alpha val="78000"/>
            </a:srgbClr>
          </a:solidFill>
          <a:ln w="12700">
            <a:solidFill>
              <a:srgbClr val="14A6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RF Outperforms LR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65192" y="185623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MSE: 0.743 and R²: 0.837, outperforming Linear Regression (MSE: 0.976, R²: 0.790).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90088"/>
            <a:ext cx="4023360" cy="1417320"/>
          </a:xfrm>
          <a:prstGeom prst="rect">
            <a:avLst/>
          </a:prstGeom>
          <a:solidFill>
            <a:srgbClr val="0A7C6E">
              <a:alpha val="78000"/>
            </a:srgbClr>
          </a:solidFill>
          <a:ln w="12700">
            <a:solidFill>
              <a:srgbClr val="14A6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081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  ML in Drug Discovery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34290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that ML significantly reduces time and effort in drug molecule analysis and discovery pipelines.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2990088"/>
            <a:ext cx="4023360" cy="1417320"/>
          </a:xfrm>
          <a:prstGeom prst="rect">
            <a:avLst/>
          </a:prstGeom>
          <a:solidFill>
            <a:srgbClr val="0A7C6E">
              <a:alpha val="78000"/>
            </a:srgbClr>
          </a:solidFill>
          <a:ln w="12700">
            <a:solidFill>
              <a:srgbClr val="14A6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3081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Feature Engineering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65192" y="34290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RDKit-converted SMILES fingerprints combined with molecular descriptors provided rich, robust feature sets.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371600" y="4572000"/>
            <a:ext cx="6400800" cy="475488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457200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Thank You  |  Questions &amp; Answers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1092</Words>
  <Application>Microsoft Office PowerPoint</Application>
  <PresentationFormat>On-screen Show (16:9)</PresentationFormat>
  <Paragraphs>235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Molecule Classification and Molecular Property Prediction</dc:title>
  <dc:subject>PptxGenJS Presentation</dc:subject>
  <dc:creator>PptxGenJS</dc:creator>
  <cp:lastModifiedBy>Lenovo</cp:lastModifiedBy>
  <cp:revision>2</cp:revision>
  <dcterms:created xsi:type="dcterms:W3CDTF">2026-04-25T02:04:05Z</dcterms:created>
  <dcterms:modified xsi:type="dcterms:W3CDTF">2026-04-25T06:00:18Z</dcterms:modified>
</cp:coreProperties>
</file>